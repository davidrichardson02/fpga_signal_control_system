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nwtPGztgvA7hoj8aVcE7XPqS3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EDA"/>
    <a:srgbClr val="9309DF"/>
    <a:srgbClr val="002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7"/>
  </p:normalViewPr>
  <p:slideViewPr>
    <p:cSldViewPr snapToGrid="0">
      <p:cViewPr>
        <p:scale>
          <a:sx n="50" d="100"/>
          <a:sy n="50" d="100"/>
        </p:scale>
        <p:origin x="133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4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44e811e4b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2044e811e4b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743200" y="5387343"/>
            <a:ext cx="16459200" cy="114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75"/>
              <a:buFont typeface="Calibri"/>
              <a:buNone/>
              <a:defRPr sz="1914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743200" y="17289784"/>
            <a:ext cx="16459200" cy="794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8550"/>
              <a:buNone/>
              <a:defRPr sz="7657"/>
            </a:lvl1pPr>
            <a:lvl2pPr lvl="1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None/>
              <a:defRPr sz="6381"/>
            </a:lvl2pPr>
            <a:lvl3pPr lvl="2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6413"/>
              <a:buNone/>
              <a:defRPr sz="5743"/>
            </a:lvl3pPr>
            <a:lvl4pPr lvl="3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4pPr>
            <a:lvl5pPr lvl="4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5pPr>
            <a:lvl6pPr lvl="5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6pPr>
            <a:lvl7pPr lvl="6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7pPr>
            <a:lvl8pPr lvl="7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8pPr>
            <a:lvl9pPr lvl="8" algn="ctr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508762" y="1752604"/>
            <a:ext cx="18928080" cy="636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508762" y="8763002"/>
            <a:ext cx="18928080" cy="208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497331" y="8206748"/>
            <a:ext cx="18928080" cy="1369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75"/>
              <a:buFont typeface="Calibri"/>
              <a:buNone/>
              <a:defRPr sz="1914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497331" y="22029428"/>
            <a:ext cx="18928080" cy="7200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13716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rgbClr val="888888"/>
              </a:buClr>
              <a:buSzPts val="8550"/>
              <a:buNone/>
              <a:defRPr sz="7657">
                <a:solidFill>
                  <a:srgbClr val="888888"/>
                </a:solidFill>
              </a:defRPr>
            </a:lvl1pPr>
            <a:lvl2pPr marL="548640" lvl="1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7125"/>
              <a:buNone/>
              <a:defRPr sz="6381">
                <a:solidFill>
                  <a:srgbClr val="888888"/>
                </a:solidFill>
              </a:defRPr>
            </a:lvl2pPr>
            <a:lvl3pPr marL="822960" lvl="2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6413"/>
              <a:buNone/>
              <a:defRPr sz="5743">
                <a:solidFill>
                  <a:srgbClr val="888888"/>
                </a:solidFill>
              </a:defRPr>
            </a:lvl3pPr>
            <a:lvl4pPr marL="1097280" lvl="3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105">
                <a:solidFill>
                  <a:srgbClr val="888888"/>
                </a:solidFill>
              </a:defRPr>
            </a:lvl4pPr>
            <a:lvl5pPr marL="1371600" lvl="4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105">
                <a:solidFill>
                  <a:srgbClr val="888888"/>
                </a:solidFill>
              </a:defRPr>
            </a:lvl5pPr>
            <a:lvl6pPr marL="1645920" lvl="5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105">
                <a:solidFill>
                  <a:srgbClr val="888888"/>
                </a:solidFill>
              </a:defRPr>
            </a:lvl6pPr>
            <a:lvl7pPr marL="1920240" lvl="6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105">
                <a:solidFill>
                  <a:srgbClr val="888888"/>
                </a:solidFill>
              </a:defRPr>
            </a:lvl7pPr>
            <a:lvl8pPr marL="2194560" lvl="7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105">
                <a:solidFill>
                  <a:srgbClr val="888888"/>
                </a:solidFill>
              </a:defRPr>
            </a:lvl8pPr>
            <a:lvl9pPr marL="2468880" lvl="8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10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508762" y="1752604"/>
            <a:ext cx="18928080" cy="636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508760" y="8763002"/>
            <a:ext cx="9326880" cy="208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1109960" y="8763002"/>
            <a:ext cx="9326880" cy="208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511620" y="1752604"/>
            <a:ext cx="18928080" cy="636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511620" y="8069585"/>
            <a:ext cx="9284017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74320" lvl="0" indent="-13716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8550"/>
              <a:buNone/>
              <a:defRPr sz="7657" b="1"/>
            </a:lvl1pPr>
            <a:lvl2pPr marL="548640" lvl="1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None/>
              <a:defRPr sz="6381" b="1"/>
            </a:lvl2pPr>
            <a:lvl3pPr marL="822960" lvl="2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6413"/>
              <a:buNone/>
              <a:defRPr sz="5743" b="1"/>
            </a:lvl3pPr>
            <a:lvl4pPr marL="1097280" lvl="3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4pPr>
            <a:lvl5pPr marL="1371600" lvl="4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5pPr>
            <a:lvl6pPr marL="1645920" lvl="5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6pPr>
            <a:lvl7pPr marL="1920240" lvl="6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7pPr>
            <a:lvl8pPr marL="2194560" lvl="7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8pPr>
            <a:lvl9pPr marL="2468880" lvl="8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511620" y="12024362"/>
            <a:ext cx="9284017" cy="1768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1109961" y="8069585"/>
            <a:ext cx="9329738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74320" lvl="0" indent="-13716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8550"/>
              <a:buNone/>
              <a:defRPr sz="7657" b="1"/>
            </a:lvl1pPr>
            <a:lvl2pPr marL="548640" lvl="1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None/>
              <a:defRPr sz="6381" b="1"/>
            </a:lvl2pPr>
            <a:lvl3pPr marL="822960" lvl="2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6413"/>
              <a:buNone/>
              <a:defRPr sz="5743" b="1"/>
            </a:lvl3pPr>
            <a:lvl4pPr marL="1097280" lvl="3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4pPr>
            <a:lvl5pPr marL="1371600" lvl="4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5pPr>
            <a:lvl6pPr marL="1645920" lvl="5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6pPr>
            <a:lvl7pPr marL="1920240" lvl="6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7pPr>
            <a:lvl8pPr marL="2194560" lvl="7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8pPr>
            <a:lvl9pPr marL="2468880" lvl="8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1109961" y="12024362"/>
            <a:ext cx="9329738" cy="1768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508762" y="1752604"/>
            <a:ext cx="18928080" cy="636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511620" y="2194560"/>
            <a:ext cx="7078027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Calibri"/>
              <a:buNone/>
              <a:defRPr sz="1021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9329740" y="4739642"/>
            <a:ext cx="11109960" cy="233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57150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1400"/>
              <a:buChar char="•"/>
              <a:defRPr sz="10210"/>
            </a:lvl1pPr>
            <a:lvl2pPr marL="548640" lvl="1" indent="-517207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9975"/>
              <a:buChar char="•"/>
              <a:defRPr sz="8933"/>
            </a:lvl2pPr>
            <a:lvl3pPr marL="822960" lvl="2" indent="-462915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8550"/>
              <a:buChar char="•"/>
              <a:defRPr sz="7657"/>
            </a:lvl3pPr>
            <a:lvl4pPr marL="1097280" lvl="3" indent="-408622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Char char="•"/>
              <a:defRPr sz="6381"/>
            </a:lvl4pPr>
            <a:lvl5pPr marL="1371600" lvl="4" indent="-408622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Char char="•"/>
              <a:defRPr sz="6381"/>
            </a:lvl5pPr>
            <a:lvl6pPr marL="1645920" lvl="5" indent="-408622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Char char="•"/>
              <a:defRPr sz="6381"/>
            </a:lvl6pPr>
            <a:lvl7pPr marL="1920240" lvl="6" indent="-408622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Char char="•"/>
              <a:defRPr sz="6381"/>
            </a:lvl7pPr>
            <a:lvl8pPr marL="2194560" lvl="7" indent="-408622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Char char="•"/>
              <a:defRPr sz="6381"/>
            </a:lvl8pPr>
            <a:lvl9pPr marL="2468880" lvl="8" indent="-408622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7125"/>
              <a:buChar char="•"/>
              <a:defRPr sz="638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511620" y="9875522"/>
            <a:ext cx="7078027" cy="1829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13716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1pPr>
            <a:lvl2pPr marL="548640" lvl="1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4988"/>
              <a:buNone/>
              <a:defRPr sz="4466"/>
            </a:lvl2pPr>
            <a:lvl3pPr marL="822960" lvl="2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4275"/>
              <a:buNone/>
              <a:defRPr sz="3829"/>
            </a:lvl3pPr>
            <a:lvl4pPr marL="1097280" lvl="3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4pPr>
            <a:lvl5pPr marL="1371600" lvl="4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5pPr>
            <a:lvl6pPr marL="1645920" lvl="5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6pPr>
            <a:lvl7pPr marL="1920240" lvl="6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7pPr>
            <a:lvl8pPr marL="2194560" lvl="7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8pPr>
            <a:lvl9pPr marL="2468880" lvl="8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511620" y="2194560"/>
            <a:ext cx="7078027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Calibri"/>
              <a:buNone/>
              <a:defRPr sz="1021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9329740" y="4739642"/>
            <a:ext cx="1110996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511620" y="9875522"/>
            <a:ext cx="7078027" cy="1829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13716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105"/>
            </a:lvl1pPr>
            <a:lvl2pPr marL="548640" lvl="1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4988"/>
              <a:buNone/>
              <a:defRPr sz="4466"/>
            </a:lvl2pPr>
            <a:lvl3pPr marL="822960" lvl="2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4275"/>
              <a:buNone/>
              <a:defRPr sz="3829"/>
            </a:lvl3pPr>
            <a:lvl4pPr marL="1097280" lvl="3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4pPr>
            <a:lvl5pPr marL="1371600" lvl="4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5pPr>
            <a:lvl6pPr marL="1645920" lvl="5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6pPr>
            <a:lvl7pPr marL="1920240" lvl="6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7pPr>
            <a:lvl8pPr marL="2194560" lvl="7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8pPr>
            <a:lvl9pPr marL="2468880" lvl="8" indent="-13716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3563"/>
              <a:buNone/>
              <a:defRPr sz="3191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508762" y="1752604"/>
            <a:ext cx="18928080" cy="636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529590" y="9742173"/>
            <a:ext cx="20886423" cy="1892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122419" y="13335002"/>
            <a:ext cx="27896823" cy="473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478781" y="8740142"/>
            <a:ext cx="27896823" cy="139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4320" lvl="0" indent="-205740" algn="l">
              <a:lnSpc>
                <a:spcPct val="90000"/>
              </a:lnSpc>
              <a:spcBef>
                <a:spcPts val="31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48640" lvl="1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2960" lvl="2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97280" lvl="3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1600" lvl="4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45920" lvl="5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0240" lvl="6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94560" lvl="7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68880" lvl="8" indent="-205740" algn="l">
              <a:lnSpc>
                <a:spcPct val="90000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1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508762" y="1752604"/>
            <a:ext cx="18928080" cy="636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75"/>
              <a:buFont typeface="Calibri"/>
              <a:buNone/>
              <a:defRPr sz="15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508762" y="8763002"/>
            <a:ext cx="18928080" cy="20886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62012" algn="l" rtl="0">
              <a:lnSpc>
                <a:spcPct val="90000"/>
              </a:lnSpc>
              <a:spcBef>
                <a:spcPts val="3563"/>
              </a:spcBef>
              <a:spcAft>
                <a:spcPts val="0"/>
              </a:spcAft>
              <a:buClr>
                <a:schemeClr val="dk1"/>
              </a:buClr>
              <a:buSzPts val="9975"/>
              <a:buFont typeface="Arial"/>
              <a:buChar char="•"/>
              <a:defRPr sz="99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715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8550"/>
              <a:buFont typeface="Arial"/>
              <a:buChar char="•"/>
              <a:defRPr sz="85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81037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7125"/>
              <a:buFont typeface="Arial"/>
              <a:buChar char="•"/>
              <a:defRPr sz="7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358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6413"/>
              <a:buFont typeface="Arial"/>
              <a:buChar char="•"/>
              <a:defRPr sz="64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358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6413"/>
              <a:buFont typeface="Arial"/>
              <a:buChar char="•"/>
              <a:defRPr sz="64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358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6413"/>
              <a:buFont typeface="Arial"/>
              <a:buChar char="•"/>
              <a:defRPr sz="64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358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6413"/>
              <a:buFont typeface="Arial"/>
              <a:buChar char="•"/>
              <a:defRPr sz="64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358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6413"/>
              <a:buFont typeface="Arial"/>
              <a:buChar char="•"/>
              <a:defRPr sz="64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35825" algn="l" rtl="0">
              <a:lnSpc>
                <a:spcPct val="90000"/>
              </a:lnSpc>
              <a:spcBef>
                <a:spcPts val="1781"/>
              </a:spcBef>
              <a:spcAft>
                <a:spcPts val="0"/>
              </a:spcAft>
              <a:buClr>
                <a:schemeClr val="dk1"/>
              </a:buClr>
              <a:buSzPts val="6413"/>
              <a:buFont typeface="Arial"/>
              <a:buChar char="•"/>
              <a:defRPr sz="64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50876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269482" y="30510483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499080" y="30510483"/>
            <a:ext cx="49377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1"/>
              <a:buFont typeface="Arial"/>
              <a:buNone/>
              <a:defRPr sz="382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044e811e4b_1_31"/>
          <p:cNvSpPr txBox="1"/>
          <p:nvPr/>
        </p:nvSpPr>
        <p:spPr>
          <a:xfrm>
            <a:off x="436304" y="3478306"/>
            <a:ext cx="21072992" cy="115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70" tIns="40920" rIns="81870" bIns="40920" anchor="t" anchorCtr="0">
            <a:spAutoFit/>
          </a:bodyPr>
          <a:lstStyle/>
          <a:p>
            <a:pPr algn="ctr"/>
            <a:r>
              <a:rPr lang="en-US" sz="70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FPGA Signal Control System</a:t>
            </a:r>
            <a:endParaRPr sz="7000" dirty="0">
              <a:solidFill>
                <a:srgbClr val="0027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2044e811e4b_1_31"/>
          <p:cNvSpPr txBox="1"/>
          <p:nvPr/>
        </p:nvSpPr>
        <p:spPr>
          <a:xfrm>
            <a:off x="16826677" y="32042279"/>
            <a:ext cx="4831474" cy="698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70" tIns="40920" rIns="81870" bIns="40920" anchor="t" anchorCtr="0">
            <a:spAutoFit/>
          </a:bodyPr>
          <a:lstStyle/>
          <a:p>
            <a:pPr algn="r"/>
            <a:r>
              <a:rPr lang="en-US" sz="40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PIPE at CECS 2025</a:t>
            </a:r>
            <a:endParaRPr sz="4000" dirty="0">
              <a:solidFill>
                <a:srgbClr val="00274C"/>
              </a:solidFill>
            </a:endParaRPr>
          </a:p>
        </p:txBody>
      </p:sp>
      <p:sp>
        <p:nvSpPr>
          <p:cNvPr id="88" name="Google Shape;88;g2044e811e4b_1_31"/>
          <p:cNvSpPr txBox="1"/>
          <p:nvPr/>
        </p:nvSpPr>
        <p:spPr>
          <a:xfrm>
            <a:off x="479849" y="4885648"/>
            <a:ext cx="11556207" cy="11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70" tIns="40920" rIns="81870" bIns="40920" anchor="t" anchorCtr="0">
            <a:spAutoFit/>
          </a:bodyPr>
          <a:lstStyle/>
          <a:p>
            <a:r>
              <a:rPr lang="en-US" sz="36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Student: David Richardson		</a:t>
            </a:r>
          </a:p>
          <a:p>
            <a:r>
              <a:rPr lang="en-US" sz="36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Course: 	ECE-375 Introduction to Computer Architecture</a:t>
            </a:r>
            <a:endParaRPr sz="3600" dirty="0">
              <a:solidFill>
                <a:srgbClr val="00274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E1875-8684-D0A0-D2D9-BFE3F207B3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8" t="11955" r="5061" b="11525"/>
          <a:stretch/>
        </p:blipFill>
        <p:spPr>
          <a:xfrm>
            <a:off x="17855444" y="872347"/>
            <a:ext cx="3351948" cy="1571096"/>
          </a:xfrm>
          <a:prstGeom prst="rect">
            <a:avLst/>
          </a:prstGeom>
        </p:spPr>
      </p:pic>
      <p:pic>
        <p:nvPicPr>
          <p:cNvPr id="5" name="Picture 4" descr="A yellow letter on a black background&#10;&#10;Description automatically generated">
            <a:extLst>
              <a:ext uri="{FF2B5EF4-FFF2-40B4-BE49-F238E27FC236}">
                <a16:creationId xmlns:a16="http://schemas.microsoft.com/office/drawing/2014/main" id="{5ABE8320-B68D-DDED-17B2-8163C9890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27" y="620925"/>
            <a:ext cx="4148490" cy="2463663"/>
          </a:xfrm>
          <a:prstGeom prst="rect">
            <a:avLst/>
          </a:prstGeom>
        </p:spPr>
      </p:pic>
      <p:sp>
        <p:nvSpPr>
          <p:cNvPr id="8" name="Google Shape;86;g2044e811e4b_1_31">
            <a:extLst>
              <a:ext uri="{FF2B5EF4-FFF2-40B4-BE49-F238E27FC236}">
                <a16:creationId xmlns:a16="http://schemas.microsoft.com/office/drawing/2014/main" id="{5EF34295-5958-0F70-A3D2-A036C0C1EBBA}"/>
              </a:ext>
            </a:extLst>
          </p:cNvPr>
          <p:cNvSpPr txBox="1"/>
          <p:nvPr/>
        </p:nvSpPr>
        <p:spPr>
          <a:xfrm>
            <a:off x="5394078" y="668020"/>
            <a:ext cx="11809405" cy="22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70" tIns="40920" rIns="81870" bIns="40920" anchor="t" anchorCtr="0">
            <a:spAutoFit/>
          </a:bodyPr>
          <a:lstStyle/>
          <a:p>
            <a:pPr algn="ctr"/>
            <a:r>
              <a:rPr lang="en-US" sz="52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Promoting Innovation in </a:t>
            </a:r>
          </a:p>
          <a:p>
            <a:pPr algn="ctr"/>
            <a:r>
              <a:rPr lang="en-US" sz="52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Project-Based Education</a:t>
            </a:r>
            <a:r>
              <a:rPr lang="en-US" sz="5200" b="1" dirty="0">
                <a:solidFill>
                  <a:srgbClr val="00274C"/>
                </a:solidFill>
                <a:latin typeface="Calibri"/>
                <a:cs typeface="Calibri"/>
                <a:sym typeface="Calibri"/>
              </a:rPr>
              <a:t>–PIPE</a:t>
            </a:r>
          </a:p>
          <a:p>
            <a:pPr algn="ctr"/>
            <a:r>
              <a:rPr lang="en-US" sz="3600" i="1" dirty="0" err="1">
                <a:solidFill>
                  <a:srgbClr val="00274C"/>
                </a:solidFill>
              </a:rPr>
              <a:t>PIPEline</a:t>
            </a:r>
            <a:r>
              <a:rPr lang="en-US" sz="3600" i="1" dirty="0">
                <a:solidFill>
                  <a:srgbClr val="00274C"/>
                </a:solidFill>
              </a:rPr>
              <a:t> to Curiosity, Connections, and Creating value</a:t>
            </a:r>
            <a:endParaRPr sz="3600" dirty="0">
              <a:solidFill>
                <a:srgbClr val="00274C"/>
              </a:solidFill>
            </a:endParaRPr>
          </a:p>
        </p:txBody>
      </p:sp>
      <p:sp>
        <p:nvSpPr>
          <p:cNvPr id="2" name="Google Shape;88;g2044e811e4b_1_31">
            <a:extLst>
              <a:ext uri="{FF2B5EF4-FFF2-40B4-BE49-F238E27FC236}">
                <a16:creationId xmlns:a16="http://schemas.microsoft.com/office/drawing/2014/main" id="{B9B94F94-0046-2759-7494-6B195B10D5EE}"/>
              </a:ext>
            </a:extLst>
          </p:cNvPr>
          <p:cNvSpPr txBox="1"/>
          <p:nvPr/>
        </p:nvSpPr>
        <p:spPr>
          <a:xfrm>
            <a:off x="13166398" y="4883622"/>
            <a:ext cx="8337614" cy="1744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70" tIns="40920" rIns="81870" bIns="40920" anchor="t" anchorCtr="0">
            <a:spAutoFit/>
          </a:bodyPr>
          <a:lstStyle/>
          <a:p>
            <a:r>
              <a:rPr lang="en-US" sz="3600" b="1" dirty="0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Faculty : Professor Furat-Al-</a:t>
            </a:r>
            <a:r>
              <a:rPr lang="en-US" sz="3600" b="1" dirty="0" err="1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rPr>
              <a:t>Obaidy</a:t>
            </a:r>
            <a:endParaRPr lang="en-US" sz="3600" dirty="0"/>
          </a:p>
          <a:p>
            <a:br>
              <a:rPr lang="en-US" sz="3600" dirty="0"/>
            </a:br>
            <a:endParaRPr sz="3600" dirty="0">
              <a:solidFill>
                <a:srgbClr val="00274C"/>
              </a:solidFill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2683779B-6AB0-3B86-E189-068F2E8CA9B0}"/>
              </a:ext>
            </a:extLst>
          </p:cNvPr>
          <p:cNvSpPr/>
          <p:nvPr/>
        </p:nvSpPr>
        <p:spPr>
          <a:xfrm>
            <a:off x="436304" y="11395993"/>
            <a:ext cx="9839779" cy="2825306"/>
          </a:xfrm>
          <a:prstGeom prst="flowChartAlternateProcess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This project implements an integrated real-time measurement and control system on a </a:t>
            </a:r>
            <a:r>
              <a:rPr lang="en-US" sz="1400" dirty="0" err="1">
                <a:solidFill>
                  <a:schemeClr val="bg1"/>
                </a:solidFill>
              </a:rPr>
              <a:t>Nexys</a:t>
            </a:r>
            <a:r>
              <a:rPr lang="en-US" sz="1400" dirty="0">
                <a:solidFill>
                  <a:schemeClr val="bg1"/>
                </a:solidFill>
              </a:rPr>
              <a:t> A7-100T FPGA board. The goals are: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Build a fully synchronous, single-clock-domain FPGA design that exercises the full toolchain: HDL, constraints, synthesis, implementation, and hardware bring-up.</a:t>
            </a:r>
          </a:p>
          <a:p>
            <a:pPr marL="285750" indent="-285750">
              <a:buFont typeface="+mj-lt"/>
              <a:buAutoNum type="romanLcPeriod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Perform dynamic spatial mapping using a Time-of-Flight (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) distance sensor swept over angle, and stream samples to both a VGA display and a PC.</a:t>
            </a:r>
          </a:p>
          <a:p>
            <a:pPr marL="285750" indent="-285750">
              <a:buFont typeface="+mj-lt"/>
              <a:buAutoNum type="romanLcPeriod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Implement closed-loop temperature-based cooling using a brushless DC fan, with PIR-based occupancy logic and manual override.</a:t>
            </a:r>
          </a:p>
          <a:p>
            <a:pPr marL="285750" indent="-285750">
              <a:buFont typeface="+mj-lt"/>
              <a:buAutoNum type="romanLcPeriod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Develop rich telemetry—UART streaming and VGA overlays—to make internal FPGA state visible on the bench in real time.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E214E3-C7C5-C0D3-A878-3B6C5386C248}"/>
              </a:ext>
            </a:extLst>
          </p:cNvPr>
          <p:cNvSpPr/>
          <p:nvPr/>
        </p:nvSpPr>
        <p:spPr>
          <a:xfrm>
            <a:off x="699927" y="11080698"/>
            <a:ext cx="5372100" cy="3152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Motivation &amp; Objectives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1FF67508-6FFE-0069-404E-3C75D44B9BD8}"/>
              </a:ext>
            </a:extLst>
          </p:cNvPr>
          <p:cNvSpPr/>
          <p:nvPr/>
        </p:nvSpPr>
        <p:spPr>
          <a:xfrm>
            <a:off x="10815477" y="11395993"/>
            <a:ext cx="9839779" cy="2825306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design forms a closed experimentation loop from HDL to bench measurements and data analysis: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13B58C-EC04-0C8A-7E48-73F2479C45F8}"/>
              </a:ext>
            </a:extLst>
          </p:cNvPr>
          <p:cNvSpPr/>
          <p:nvPr/>
        </p:nvSpPr>
        <p:spPr>
          <a:xfrm>
            <a:off x="11079100" y="11080698"/>
            <a:ext cx="5372100" cy="31529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Architecture &amp; Spatial Mapping</a:t>
            </a:r>
          </a:p>
        </p:txBody>
      </p:sp>
      <p:pic>
        <p:nvPicPr>
          <p:cNvPr id="13" name="Picture 1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174BF72-5348-D9F6-601A-EED0C8326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5712" y="12275983"/>
            <a:ext cx="7439307" cy="1725234"/>
          </a:xfrm>
          <a:prstGeom prst="rect">
            <a:avLst/>
          </a:prstGeom>
        </p:spPr>
      </p:pic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7EA299F-D287-275F-707E-F1B848E7C827}"/>
              </a:ext>
            </a:extLst>
          </p:cNvPr>
          <p:cNvSpPr/>
          <p:nvPr/>
        </p:nvSpPr>
        <p:spPr>
          <a:xfrm>
            <a:off x="5808404" y="7031361"/>
            <a:ext cx="9839779" cy="2825306"/>
          </a:xfrm>
          <a:prstGeom prst="flowChartAlternateProcess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FPGA platform:</a:t>
            </a:r>
            <a:r>
              <a:rPr lang="en-US" sz="1400" dirty="0"/>
              <a:t> </a:t>
            </a:r>
            <a:r>
              <a:rPr lang="en-US" sz="1400" dirty="0" err="1"/>
              <a:t>Digilent</a:t>
            </a:r>
            <a:r>
              <a:rPr lang="en-US" sz="1400" dirty="0"/>
              <a:t> </a:t>
            </a:r>
            <a:r>
              <a:rPr lang="en-US" sz="1400" dirty="0" err="1"/>
              <a:t>Nexys</a:t>
            </a:r>
            <a:r>
              <a:rPr lang="en-US" sz="1400" dirty="0"/>
              <a:t> A7-100T (Artix-7, 100 MHz system clock).</a:t>
            </a:r>
          </a:p>
          <a:p>
            <a:r>
              <a:rPr lang="en-US" b="1" dirty="0">
                <a:solidFill>
                  <a:schemeClr val="tx1"/>
                </a:solidFill>
              </a:rPr>
              <a:t>Major subsystems: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ToF</a:t>
            </a:r>
            <a:r>
              <a:rPr lang="en-US" b="1" dirty="0">
                <a:solidFill>
                  <a:schemeClr val="tx1"/>
                </a:solidFill>
              </a:rPr>
              <a:t> range acquisition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		I²C master talking to an ISL29501 </a:t>
            </a:r>
            <a:r>
              <a:rPr lang="en-US" dirty="0" err="1">
                <a:solidFill>
                  <a:schemeClr val="tx1"/>
                </a:solidFill>
              </a:rPr>
              <a:t>Pmod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ToF</a:t>
            </a:r>
            <a:r>
              <a:rPr lang="en-US" dirty="0">
                <a:solidFill>
                  <a:schemeClr val="tx1"/>
                </a:solidFill>
              </a:rPr>
              <a:t> sensor.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		Q1.15 polar angle encoder and millimeter distance samples.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		Ready/valid streaming into the </a:t>
            </a:r>
            <a:r>
              <a:rPr lang="en-US" dirty="0" err="1">
                <a:solidFill>
                  <a:schemeClr val="tx1"/>
                </a:solidFill>
              </a:rPr>
              <a:t>packetizer</a:t>
            </a:r>
            <a:r>
              <a:rPr lang="en-US" dirty="0">
                <a:solidFill>
                  <a:schemeClr val="tx1"/>
                </a:solidFill>
              </a:rPr>
              <a:t> and UART.</a:t>
            </a:r>
          </a:p>
          <a:p>
            <a:r>
              <a:rPr lang="en-US" b="1" dirty="0">
                <a:solidFill>
                  <a:schemeClr val="tx1"/>
                </a:solidFill>
              </a:rPr>
              <a:t>	Temperature sensing &amp; fan control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		XADC channel monitors board temperature (converted to Q1.15).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		Occupancy via PIR sensor; manual override via slide switches.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		PWM duty-based fan drive using external MOSFET and 5 V fan.</a:t>
            </a:r>
          </a:p>
          <a:p>
            <a:r>
              <a:rPr lang="en-US" b="1" dirty="0">
                <a:solidFill>
                  <a:schemeClr val="tx1"/>
                </a:solidFill>
              </a:rPr>
              <a:t>	Visualization &amp; logging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		640×480@60 Hz VGA: </a:t>
            </a:r>
            <a:r>
              <a:rPr lang="en-US" dirty="0" err="1">
                <a:solidFill>
                  <a:schemeClr val="tx1"/>
                </a:solidFill>
              </a:rPr>
              <a:t>ToF</a:t>
            </a:r>
            <a:r>
              <a:rPr lang="en-US" dirty="0">
                <a:solidFill>
                  <a:schemeClr val="tx1"/>
                </a:solidFill>
              </a:rPr>
              <a:t> spatial plot + telemetry panel.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		2 Mbit/s UART: binary frames logged by a </a:t>
            </a:r>
            <a:r>
              <a:rPr lang="en-US" dirty="0" err="1">
                <a:solidFill>
                  <a:schemeClr val="tx1"/>
                </a:solidFill>
              </a:rPr>
              <a:t>WaveForms</a:t>
            </a:r>
            <a:r>
              <a:rPr lang="en-US" dirty="0">
                <a:solidFill>
                  <a:schemeClr val="tx1"/>
                </a:solidFill>
              </a:rPr>
              <a:t> script.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		On-board 7-segment clock summarizing FPGA uptime.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BB9A10-9300-AEE1-1E6B-3092CC0B0969}"/>
              </a:ext>
            </a:extLst>
          </p:cNvPr>
          <p:cNvSpPr/>
          <p:nvPr/>
        </p:nvSpPr>
        <p:spPr>
          <a:xfrm>
            <a:off x="6072027" y="6716066"/>
            <a:ext cx="5372100" cy="3152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System Overview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0F1764CE-293A-33A8-FCC2-168DC664CCA8}"/>
              </a:ext>
            </a:extLst>
          </p:cNvPr>
          <p:cNvSpPr/>
          <p:nvPr/>
        </p:nvSpPr>
        <p:spPr>
          <a:xfrm>
            <a:off x="10815477" y="15527245"/>
            <a:ext cx="9839779" cy="2825306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+mj-lt"/>
              <a:buAutoNum type="romanLcPeriod"/>
            </a:pP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sampling: The I²C master periodically reads a 16-bit distance register from the </a:t>
            </a:r>
            <a:r>
              <a:rPr lang="en-US" sz="1200" dirty="0" err="1">
                <a:solidFill>
                  <a:schemeClr val="tx1"/>
                </a:solidFill>
              </a:rPr>
              <a:t>Pmod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sensor.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Angle tagging: A Q1.15 angle accumulator advances with each step of the sweep state machine, providing a fractional-turn angle θ ∈ [−0.5, 0.5).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Polar-to-framebuffer mapping: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	Distance is scaled into a radius within 0 mm to </a:t>
            </a:r>
            <a:r>
              <a:rPr lang="en-US" sz="1200" dirty="0" err="1">
                <a:solidFill>
                  <a:schemeClr val="tx1"/>
                </a:solidFill>
              </a:rPr>
              <a:t>Rmax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 	Angle selects an x index; radius selects a y index in a 256×256 bit-plane.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Framebuffer accumulation:</a:t>
            </a:r>
          </a:p>
          <a:p>
            <a:r>
              <a:rPr lang="en-US" sz="1200" dirty="0">
                <a:solidFill>
                  <a:schemeClr val="tx1"/>
                </a:solidFill>
              </a:rPr>
              <a:t>	A dual-port BRAM acts as a hit map for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samples.</a:t>
            </a:r>
          </a:p>
          <a:p>
            <a:r>
              <a:rPr lang="en-US" sz="1200" dirty="0">
                <a:solidFill>
                  <a:schemeClr val="tx1"/>
                </a:solidFill>
              </a:rPr>
              <a:t>	One port writes in the 100 MHz domain; the other reads in the 25 MHz pixel domain.</a:t>
            </a:r>
          </a:p>
          <a:p>
            <a:r>
              <a:rPr lang="en-US" sz="1200" dirty="0">
                <a:solidFill>
                  <a:schemeClr val="tx1"/>
                </a:solidFill>
              </a:rPr>
              <a:t>	A frame-clear FSM wipes the BRAM once per sweep.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UART packetization:</a:t>
            </a:r>
          </a:p>
          <a:p>
            <a:r>
              <a:rPr lang="en-US" sz="1200" dirty="0">
                <a:solidFill>
                  <a:schemeClr val="tx1"/>
                </a:solidFill>
              </a:rPr>
              <a:t> 	Each sample is packed into a 0x55 0xAA-framed UART packet.</a:t>
            </a:r>
          </a:p>
          <a:p>
            <a:r>
              <a:rPr lang="en-US" sz="1200" dirty="0">
                <a:solidFill>
                  <a:schemeClr val="tx1"/>
                </a:solidFill>
              </a:rPr>
              <a:t>	Payload includes timestamp, θ_q15, distance, and status.</a:t>
            </a:r>
          </a:p>
          <a:p>
            <a:r>
              <a:rPr lang="en-US" sz="1200" dirty="0">
                <a:solidFill>
                  <a:schemeClr val="tx1"/>
                </a:solidFill>
              </a:rPr>
              <a:t>	 A PC-side </a:t>
            </a:r>
            <a:r>
              <a:rPr lang="en-US" sz="1200" dirty="0" err="1">
                <a:solidFill>
                  <a:schemeClr val="tx1"/>
                </a:solidFill>
              </a:rPr>
              <a:t>WaveForms</a:t>
            </a:r>
            <a:r>
              <a:rPr lang="en-US" sz="1200" dirty="0">
                <a:solidFill>
                  <a:schemeClr val="tx1"/>
                </a:solidFill>
              </a:rPr>
              <a:t> script decodes frames and logs CSV.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7ED3A6-EEFF-0D1F-FB5A-A4547A8B1755}"/>
              </a:ext>
            </a:extLst>
          </p:cNvPr>
          <p:cNvSpPr/>
          <p:nvPr/>
        </p:nvSpPr>
        <p:spPr>
          <a:xfrm>
            <a:off x="11079100" y="15211950"/>
            <a:ext cx="5372100" cy="31529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Dynamic Spatial Mapping Pipeline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DABAB7E5-D14F-1E5B-9697-305585725D91}"/>
              </a:ext>
            </a:extLst>
          </p:cNvPr>
          <p:cNvSpPr/>
          <p:nvPr/>
        </p:nvSpPr>
        <p:spPr>
          <a:xfrm>
            <a:off x="216226" y="15527245"/>
            <a:ext cx="9839779" cy="2825306"/>
          </a:xfrm>
          <a:prstGeom prst="flowChartAlternateProcess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control logic layer ties sensing and actuation together: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Gathers inputs from the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sampler, XADC temperature monitor, PIR occupancy detector, and mode switches (TEMP / MAN / PIR).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Runs a sweep state machine that steps the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angle, tags each distance sample with a Q1.15 heading, and asserts </a:t>
            </a:r>
            <a:r>
              <a:rPr lang="en-US" dirty="0" err="1">
                <a:solidFill>
                  <a:schemeClr val="tx1"/>
                </a:solidFill>
              </a:rPr>
              <a:t>sweep_wrap</a:t>
            </a:r>
            <a:r>
              <a:rPr lang="en-US" sz="1200" dirty="0">
                <a:solidFill>
                  <a:schemeClr val="tx1"/>
                </a:solidFill>
              </a:rPr>
              <a:t> at the end of each scan.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Implements a temperature-based fan controller with hysteresis and occupancy extension: PIR activity can hold the fan on longer in occupied intervals, while switches gate each control path.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Forms a </a:t>
            </a:r>
            <a:r>
              <a:rPr lang="en-US" sz="1200" b="1" dirty="0">
                <a:solidFill>
                  <a:schemeClr val="tx1"/>
                </a:solidFill>
              </a:rPr>
              <a:t>global fan decision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fan_on</a:t>
            </a:r>
            <a:r>
              <a:rPr lang="en-US" sz="1200" dirty="0">
                <a:solidFill>
                  <a:schemeClr val="tx1"/>
                </a:solidFill>
              </a:rPr>
              <a:t>) that drives the PWM duty cycle and is mirrored into the VGA tiles and UART telemetry.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Separating this </a:t>
            </a:r>
            <a:r>
              <a:rPr lang="en-US" sz="1200" b="1" dirty="0">
                <a:solidFill>
                  <a:schemeClr val="tx1"/>
                </a:solidFill>
              </a:rPr>
              <a:t>control path</a:t>
            </a:r>
            <a:r>
              <a:rPr lang="en-US" sz="1200" dirty="0">
                <a:solidFill>
                  <a:schemeClr val="tx1"/>
                </a:solidFill>
              </a:rPr>
              <a:t> from the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data path makes it easier to reason about safety, priorities, and future extensions.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C25199C-A5C8-DE4B-0E9D-49589DD9D6C0}"/>
              </a:ext>
            </a:extLst>
          </p:cNvPr>
          <p:cNvSpPr/>
          <p:nvPr/>
        </p:nvSpPr>
        <p:spPr>
          <a:xfrm>
            <a:off x="479849" y="15211950"/>
            <a:ext cx="5372100" cy="31529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Control Logic: Cooling &amp; Occupancy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2141EAB5-B2F2-71B7-9341-4A7F6FD9F2AB}"/>
              </a:ext>
            </a:extLst>
          </p:cNvPr>
          <p:cNvSpPr/>
          <p:nvPr/>
        </p:nvSpPr>
        <p:spPr>
          <a:xfrm>
            <a:off x="216226" y="19658497"/>
            <a:ext cx="9839779" cy="2825306"/>
          </a:xfrm>
          <a:prstGeom prst="flowChartAlternateProcess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600" b="1" dirty="0" err="1">
                <a:solidFill>
                  <a:schemeClr val="bg1"/>
                </a:solidFill>
              </a:rPr>
              <a:t>Nexys</a:t>
            </a:r>
            <a:r>
              <a:rPr lang="en-US" sz="1600" b="1" dirty="0">
                <a:solidFill>
                  <a:schemeClr val="bg1"/>
                </a:solidFill>
              </a:rPr>
              <a:t> A7-100T FPGA board with VGA, UART, and </a:t>
            </a:r>
            <a:r>
              <a:rPr lang="en-US" sz="1600" b="1" dirty="0" err="1">
                <a:solidFill>
                  <a:schemeClr val="bg1"/>
                </a:solidFill>
              </a:rPr>
              <a:t>Pmod</a:t>
            </a:r>
            <a:r>
              <a:rPr lang="en-US" sz="1600" b="1" dirty="0">
                <a:solidFill>
                  <a:schemeClr val="bg1"/>
                </a:solidFill>
              </a:rPr>
              <a:t> headers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bg1"/>
                </a:solidFill>
              </a:rPr>
              <a:t>Breadboard hosting: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Pmod</a:t>
            </a:r>
            <a:r>
              <a:rPr lang="en-US" sz="1200" dirty="0">
                <a:solidFill>
                  <a:schemeClr val="tx1"/>
                </a:solidFill>
              </a:rPr>
              <a:t> (I2C)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PIR sensor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N-channel MOSFET fan driver and 5 V fan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RGB LED with current-limiting resistors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Digilent</a:t>
            </a:r>
            <a:r>
              <a:rPr lang="en-US" sz="1200" dirty="0">
                <a:solidFill>
                  <a:schemeClr val="bg1"/>
                </a:solidFill>
              </a:rPr>
              <a:t> Analog Discovery 2: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Scope probes on PWM, UART, and supply rails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 err="1">
                <a:solidFill>
                  <a:schemeClr val="tx1"/>
                </a:solidFill>
              </a:rPr>
              <a:t>Wavegen</a:t>
            </a:r>
            <a:r>
              <a:rPr lang="en-US" sz="1200" dirty="0">
                <a:solidFill>
                  <a:schemeClr val="tx1"/>
                </a:solidFill>
              </a:rPr>
              <a:t> for stimulus tests and synchronous analog experiments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Protocol instrument for I²C and UART debugging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054C2C-C4D4-D286-93A2-3E71C9DC0DB3}"/>
              </a:ext>
            </a:extLst>
          </p:cNvPr>
          <p:cNvSpPr/>
          <p:nvPr/>
        </p:nvSpPr>
        <p:spPr>
          <a:xfrm>
            <a:off x="479849" y="19343202"/>
            <a:ext cx="5372100" cy="315295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Hardware Bench Setup</a:t>
            </a:r>
          </a:p>
        </p:txBody>
      </p:sp>
      <p:pic>
        <p:nvPicPr>
          <p:cNvPr id="28" name="Picture 27" descr="A circuit board with many wires&#10;&#10;AI-generated content may be incorrect.">
            <a:extLst>
              <a:ext uri="{FF2B5EF4-FFF2-40B4-BE49-F238E27FC236}">
                <a16:creationId xmlns:a16="http://schemas.microsoft.com/office/drawing/2014/main" id="{26C29C39-02CC-2320-C583-9FE5BCA35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462061" y="20293162"/>
            <a:ext cx="4560111" cy="8941393"/>
          </a:xfrm>
          <a:prstGeom prst="rect">
            <a:avLst/>
          </a:prstGeom>
        </p:spPr>
      </p:pic>
      <p:pic>
        <p:nvPicPr>
          <p:cNvPr id="30" name="Picture 29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A248A226-8903-4329-0702-434451175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8293" y="18352551"/>
            <a:ext cx="9579981" cy="5354392"/>
          </a:xfrm>
          <a:prstGeom prst="rect">
            <a:avLst/>
          </a:prstGeom>
        </p:spPr>
      </p:pic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D0D5FD23-8552-B830-BD3C-E415F73CB835}"/>
              </a:ext>
            </a:extLst>
          </p:cNvPr>
          <p:cNvSpPr/>
          <p:nvPr/>
        </p:nvSpPr>
        <p:spPr>
          <a:xfrm>
            <a:off x="10728293" y="25012889"/>
            <a:ext cx="9839779" cy="2825306"/>
          </a:xfrm>
          <a:prstGeom prst="flowChartAlternateProcess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Display layout (640×480):</a:t>
            </a:r>
            <a:endParaRPr lang="en-US" dirty="0"/>
          </a:p>
          <a:p>
            <a:r>
              <a:rPr lang="en-US" b="1" dirty="0"/>
              <a:t>Left half (0–319):</a:t>
            </a:r>
            <a:r>
              <a:rPr lang="en-US" dirty="0"/>
              <a:t> 256×256 </a:t>
            </a:r>
            <a:r>
              <a:rPr lang="en-US" dirty="0" err="1"/>
              <a:t>ToF</a:t>
            </a:r>
            <a:r>
              <a:rPr lang="en-US" dirty="0"/>
              <a:t> hit map, vertically centered, with dim background and bright green hits.</a:t>
            </a:r>
          </a:p>
          <a:p>
            <a:r>
              <a:rPr lang="en-US" b="1" dirty="0"/>
              <a:t>Right panel (320–639):</a:t>
            </a:r>
            <a:endParaRPr lang="en-US" dirty="0"/>
          </a:p>
          <a:p>
            <a:pPr marL="285750" lvl="1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Temperature bar derived from a calibrated Q1.15 temperature estimate.</a:t>
            </a:r>
          </a:p>
          <a:p>
            <a:pPr marL="285750" lvl="1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Four fan tiles: TEMP, MAN, PIR, FAN, with color-coded enable/active states.</a:t>
            </a:r>
          </a:p>
          <a:p>
            <a:pPr marL="285750" lvl="1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UART visualization row: 8-bit tile strip rendering the last transmitted byte.</a:t>
            </a:r>
          </a:p>
          <a:p>
            <a:pPr marL="285750" lvl="1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Tiny 8×8 pixel font for tick labels (e.g., 60 °F, 75 °F, 90 °F) and fan tile captions.</a:t>
            </a:r>
          </a:p>
          <a:p>
            <a:pPr lvl="1"/>
            <a:endParaRPr lang="en-US" dirty="0"/>
          </a:p>
          <a:p>
            <a:r>
              <a:rPr lang="en-US" b="1" dirty="0"/>
              <a:t>Technical highlights</a:t>
            </a:r>
            <a:endParaRPr lang="en-US" dirty="0"/>
          </a:p>
          <a:p>
            <a:pPr marL="285750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25 MHz pixel clock derived from the 100 MHz fabric clock via divide-by-4.</a:t>
            </a:r>
          </a:p>
          <a:p>
            <a:pPr marL="285750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Fully synchronous colorizer: per-pixel combinational logic chooses between plot, temperature bar, fan tiles, UART tiles, and background.</a:t>
            </a:r>
          </a:p>
          <a:p>
            <a:pPr marL="285750" indent="-2857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Minimal cross-domain complexity: slow telemetry signals are resynchronized into the pixel clock domain using two-flop synchronizers.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357FEC7-3FD8-A6F7-8EF2-6A82B3070B01}"/>
              </a:ext>
            </a:extLst>
          </p:cNvPr>
          <p:cNvSpPr/>
          <p:nvPr/>
        </p:nvSpPr>
        <p:spPr>
          <a:xfrm>
            <a:off x="10991916" y="24697594"/>
            <a:ext cx="5372100" cy="315295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VGA Telemetry Panel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6E01D88C-9BFD-3836-418D-A84FD654CD4B}"/>
              </a:ext>
            </a:extLst>
          </p:cNvPr>
          <p:cNvSpPr/>
          <p:nvPr/>
        </p:nvSpPr>
        <p:spPr>
          <a:xfrm>
            <a:off x="216226" y="28456567"/>
            <a:ext cx="9839779" cy="2825306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Real-time visualization: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Stable 640x480 VGA output with combined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plot and telemetry panel.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Fan activity, occupancy state, and UART bytes are all visible directly on-screen.</a:t>
            </a:r>
          </a:p>
          <a:p>
            <a:r>
              <a:rPr lang="en-US" sz="1200" dirty="0">
                <a:solidFill>
                  <a:schemeClr val="bg1"/>
                </a:solidFill>
              </a:rPr>
              <a:t>Robust concurrency: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sampling, UART streaming, VGA refresh, and cooling control all run concurrently without explicit CPUs or soft-cores.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Careful clock-domain crossing and ready/valid interfaces prevent metastability and data loss.</a:t>
            </a:r>
          </a:p>
          <a:p>
            <a:r>
              <a:rPr lang="en-US" sz="1200" dirty="0">
                <a:solidFill>
                  <a:schemeClr val="bg1"/>
                </a:solidFill>
              </a:rPr>
              <a:t>Closed-loop cooling: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Fan duty cycle tracks measured temperature, with PIR extending cooldown in occupied intervals.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Switch-based gating allows safe experimentation with each control law.</a:t>
            </a:r>
          </a:p>
          <a:p>
            <a:r>
              <a:rPr lang="en-US" sz="1200" dirty="0">
                <a:solidFill>
                  <a:schemeClr val="bg1"/>
                </a:solidFill>
              </a:rPr>
              <a:t>Instrumentation-driven design: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 err="1">
                <a:solidFill>
                  <a:schemeClr val="tx1"/>
                </a:solidFill>
              </a:rPr>
              <a:t>WaveForms</a:t>
            </a:r>
            <a:r>
              <a:rPr lang="en-US" sz="1200" dirty="0">
                <a:solidFill>
                  <a:schemeClr val="tx1"/>
                </a:solidFill>
              </a:rPr>
              <a:t> custom math scripts decode UART packets into engineering units for debugging and analysis.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The analog instrumentation loop directly informed clocking, decoupling, and duty-cycle choices.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25C1F49-3D37-3FD2-7A8B-C905F6EEFD24}"/>
              </a:ext>
            </a:extLst>
          </p:cNvPr>
          <p:cNvSpPr/>
          <p:nvPr/>
        </p:nvSpPr>
        <p:spPr>
          <a:xfrm>
            <a:off x="479849" y="28141272"/>
            <a:ext cx="5372100" cy="31529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Key Results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F7D04A43-7784-86A7-E1CF-624704E394F4}"/>
              </a:ext>
            </a:extLst>
          </p:cNvPr>
          <p:cNvSpPr/>
          <p:nvPr/>
        </p:nvSpPr>
        <p:spPr>
          <a:xfrm>
            <a:off x="10815477" y="28520353"/>
            <a:ext cx="9839779" cy="2825306"/>
          </a:xfrm>
          <a:prstGeom prst="flowChartAlternateProcess">
            <a:avLst/>
          </a:prstGeom>
          <a:solidFill>
            <a:srgbClr val="C70E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Lessons learned</a:t>
            </a:r>
            <a:endParaRPr lang="en-US" sz="1200" dirty="0"/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Tight integration of FPGA logic with rich instrumentation (AD2, UART, VGA) dramatically shortens debug cycles.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Separating the </a:t>
            </a:r>
            <a:r>
              <a:rPr lang="en-US" sz="1200" b="1" dirty="0">
                <a:solidFill>
                  <a:schemeClr val="tx1"/>
                </a:solidFill>
              </a:rPr>
              <a:t>data path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samples, telemetry) from the </a:t>
            </a:r>
            <a:r>
              <a:rPr lang="en-US" sz="1200" b="1" dirty="0">
                <a:solidFill>
                  <a:schemeClr val="tx1"/>
                </a:solidFill>
              </a:rPr>
              <a:t>control path</a:t>
            </a:r>
            <a:r>
              <a:rPr lang="en-US" sz="1200" dirty="0">
                <a:solidFill>
                  <a:schemeClr val="tx1"/>
                </a:solidFill>
              </a:rPr>
              <a:t> (fan logic, switches, PIR) makes the design scalable.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Thinking in Q-format fixed-point arithmetic (Q1.15) simplifies sharing values between HDL, C, and MATLAB.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/>
              <a:t>Contributions</a:t>
            </a:r>
            <a:endParaRPr lang="en-US" sz="1200" dirty="0"/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Unified multiple sensing and actuation modalities in a single, fully synchronous FPGA design.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Built a reusable Verilog library: XADC sampler, I²C + </a:t>
            </a:r>
            <a:r>
              <a:rPr lang="en-US" sz="1200" dirty="0" err="1">
                <a:solidFill>
                  <a:schemeClr val="tx1"/>
                </a:solidFill>
              </a:rPr>
              <a:t>ToF</a:t>
            </a:r>
            <a:r>
              <a:rPr lang="en-US" sz="1200" dirty="0">
                <a:solidFill>
                  <a:schemeClr val="tx1"/>
                </a:solidFill>
              </a:rPr>
              <a:t> core, fan controller, </a:t>
            </a:r>
            <a:r>
              <a:rPr lang="en-US" sz="1200" dirty="0" err="1">
                <a:solidFill>
                  <a:schemeClr val="tx1"/>
                </a:solidFill>
              </a:rPr>
              <a:t>packetizer</a:t>
            </a:r>
            <a:r>
              <a:rPr lang="en-US" sz="1200" dirty="0">
                <a:solidFill>
                  <a:schemeClr val="tx1"/>
                </a:solidFill>
              </a:rPr>
              <a:t>, UART Tx, and LED/telemetry modules.</a:t>
            </a:r>
          </a:p>
          <a:p>
            <a:pPr marL="285750" indent="-285750"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</a:rPr>
              <a:t>Developed an end-to-end instrumentation workflow integrating </a:t>
            </a:r>
            <a:r>
              <a:rPr lang="en-US" sz="1200" dirty="0" err="1">
                <a:solidFill>
                  <a:schemeClr val="tx1"/>
                </a:solidFill>
              </a:rPr>
              <a:t>WaveForms</a:t>
            </a:r>
            <a:r>
              <a:rPr lang="en-US" sz="1200" dirty="0">
                <a:solidFill>
                  <a:schemeClr val="tx1"/>
                </a:solidFill>
              </a:rPr>
              <a:t> and MATLAB with the FPGA data path.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69B288-CB91-8001-F36F-540E61C8C0C7}"/>
              </a:ext>
            </a:extLst>
          </p:cNvPr>
          <p:cNvSpPr/>
          <p:nvPr/>
        </p:nvSpPr>
        <p:spPr>
          <a:xfrm>
            <a:off x="11079100" y="28205058"/>
            <a:ext cx="5372100" cy="31529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Lessons Learned &amp; Contributions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1146</Words>
  <Application>Microsoft Office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Cristiano, John</dc:creator>
  <cp:lastModifiedBy>Richardson, David</cp:lastModifiedBy>
  <cp:revision>13</cp:revision>
  <dcterms:created xsi:type="dcterms:W3CDTF">2023-02-01T14:51:04Z</dcterms:created>
  <dcterms:modified xsi:type="dcterms:W3CDTF">2025-12-02T18:30:51Z</dcterms:modified>
</cp:coreProperties>
</file>